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Alibaba Exposure Trend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MIC Traffic</c:v>
                </c:pt>
              </c:strCache>
            </c:strRef>
          </c:tx>
          <c:spPr>
            <a:solidFill>
              <a:srgbClr val="F96D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May 07</c:v>
                  </c:pt>
                  <c:pt idx="1">
                    <c:v>May 08</c:v>
                  </c:pt>
                  <c:pt idx="2">
                    <c:v>May 09</c:v>
                  </c:pt>
                  <c:pt idx="3">
                    <c:v>May 10</c:v>
                  </c:pt>
                  <c:pt idx="4">
                    <c:v>May 11</c:v>
                  </c:pt>
                  <c:pt idx="5">
                    <c:v>May 12</c:v>
                  </c:pt>
                  <c:pt idx="6">
                    <c:v>May 13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395</c:v>
                </c:pt>
                <c:pt idx="1">
                  <c:v>232</c:v>
                </c:pt>
                <c:pt idx="2">
                  <c:v>316</c:v>
                </c:pt>
                <c:pt idx="3">
                  <c:v>270</c:v>
                </c:pt>
                <c:pt idx="4">
                  <c:v>264</c:v>
                </c:pt>
                <c:pt idx="5">
                  <c:v>313</c:v>
                </c:pt>
                <c:pt idx="6">
                  <c:v>264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412" y="916037"/>
            <a:ext cx="0" cy="1260425"/>
          </a:xfrm>
          <a:prstGeom prst="line">
            <a:avLst/>
          </a:prstGeom>
          <a:noFill/>
          <a:ln w="952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23938" y="916037"/>
            <a:ext cx="7594029" cy="733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坤宇丝网 (Kunyu Wire Mesh)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023938" y="1776413"/>
            <a:ext cx="759402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本周工作汇报及下周计划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556099" y="3268563"/>
            <a:ext cx="20724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汇报人：跨境电商运营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556099" y="3747939"/>
            <a:ext cx="2072438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日期：2026年5月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777776"/>
            <a:ext cx="8128099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04800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本周数据概览 (平台流量表现)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14251"/>
            <a:ext cx="3413671" cy="1104602"/>
          </a:xfrm>
          <a:prstGeom prst="roundRect">
            <a:avLst>
              <a:gd name="adj" fmla="val 4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6050" y="914251"/>
            <a:ext cx="0" cy="1104602"/>
          </a:xfrm>
          <a:prstGeom prst="line">
            <a:avLst/>
          </a:prstGeom>
          <a:noFill/>
          <a:ln w="76200">
            <a:solidFill>
              <a:srgbClr val="2D2D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1101" y="1041202"/>
            <a:ext cx="31452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中国制造网 (MIC) 近7天曝光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11101" y="1342727"/>
            <a:ext cx="31452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2,054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11101" y="1701403"/>
            <a:ext cx="3145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访问量: 44  |  询盘: 3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7950" y="2145804"/>
            <a:ext cx="3413671" cy="1104602"/>
          </a:xfrm>
          <a:prstGeom prst="roundRect">
            <a:avLst>
              <a:gd name="adj" fmla="val 459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46050" y="2145804"/>
            <a:ext cx="0" cy="1104602"/>
          </a:xfrm>
          <a:prstGeom prst="line">
            <a:avLst/>
          </a:prstGeom>
          <a:noFill/>
          <a:ln w="76200">
            <a:solidFill>
              <a:srgbClr val="F96D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1101" y="2272754"/>
            <a:ext cx="314524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阿里国际站 (Alibaba) 曝光趋势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1101" y="2574280"/>
            <a:ext cx="314524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~2,000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1101" y="2932956"/>
            <a:ext cx="314524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日均曝光维持在 250-400 之间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7950" y="3440757"/>
            <a:ext cx="3413671" cy="1195239"/>
          </a:xfrm>
          <a:prstGeom prst="roundRect">
            <a:avLst>
              <a:gd name="adj" fmla="val 425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34901" y="3567708"/>
            <a:ext cx="32229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核心发现: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4901" y="3869234"/>
            <a:ext cx="3159770" cy="639812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MIC流量高于同行平均，持平Top10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阿里日均访客数相对平稳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流量转化率仍有提升空间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328220" y="914251"/>
          <a:ext cx="4307830" cy="16509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28220" y="2692152"/>
          <a:ext cx="4307830" cy="1650950"/>
        </p:xfrm>
        <a:graphic>
          <a:graphicData uri="http://schemas.openxmlformats.org/drawingml/2006/table">
            <a:tbl>
              <a:tblPr/>
              <a:tblGrid>
                <a:gridCol w="1076958"/>
                <a:gridCol w="1076958"/>
                <a:gridCol w="1076958"/>
                <a:gridCol w="1076958"/>
              </a:tblGrid>
              <a:tr h="330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Exposure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Visits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</a:rPr>
                        <a:t>Inquiries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 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 12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313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 11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264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019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May 10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270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666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777776"/>
            <a:ext cx="8128099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04800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客户跟进与线索梳理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8128099" cy="1584275"/>
          </a:xfrm>
          <a:prstGeom prst="roundRect">
            <a:avLst>
              <a:gd name="adj" fmla="val 481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98450" y="1168301"/>
            <a:ext cx="790204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F9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核心询盘来源分析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98450" y="1571476"/>
            <a:ext cx="7747099" cy="800100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主要国家/地区: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美国 (主导)、哥伦比亚、日本、委内瑞拉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核心搜索词追踪: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Farm fence wire, 2x4 hinge joint fence, T post, No climb fence</a:t>
            </a:r>
            <a:endParaRPr lang="en-US" sz="1400" dirty="0"/>
          </a:p>
          <a:p>
            <a:pPr algn="l" marL="127000" indent="-127000">
              <a:lnSpc>
                <a:spcPts val="2100"/>
              </a:lnSpc>
              <a:buSzPct val="100000"/>
              <a:buChar char="•"/>
            </a:pPr>
            <a:r>
              <a:rPr lang="en-US" sz="1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客户跟进池:</a:t>
            </a:r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本周共计梳理并跟进 9 位精准询盘客户，部分处于持续互动阶段。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7950" y="2752576"/>
          <a:ext cx="8128099" cy="1777901"/>
        </p:xfrm>
        <a:graphic>
          <a:graphicData uri="http://schemas.openxmlformats.org/drawingml/2006/table">
            <a:tbl>
              <a:tblPr/>
              <a:tblGrid>
                <a:gridCol w="1097280"/>
                <a:gridCol w="1097280"/>
                <a:gridCol w="731520"/>
                <a:gridCol w="731520"/>
                <a:gridCol w="27432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Country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Inquiries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Search Terms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2D2D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Michael S.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04-23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farm fence wire, fence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Donald T.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05-11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2x4 hinge joint fence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Juan C.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Colombia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04-26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Maria E.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Venezuela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05-04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Chris H.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04-26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 post 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777776"/>
            <a:ext cx="8128099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04800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客户服务与响应自动化 (FAQ配置)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77801"/>
            <a:ext cx="3901380" cy="1465659"/>
          </a:xfrm>
          <a:prstGeom prst="roundRect">
            <a:avLst>
              <a:gd name="adj" fmla="val 346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07950" y="1001613"/>
            <a:ext cx="3901380" cy="0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8450" y="1152376"/>
            <a:ext cx="35907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配置目标与策略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98450" y="1463427"/>
            <a:ext cx="3520380" cy="85308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建立专业形象: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提供标准化、英文地道的首轮响应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获取联系方式: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引导客户留下 WhatsApp 或 Email 以发送详细报价表 (FOB价 + 运费)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流失挽回: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设置 5 分钟未回复自动触发机制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570411"/>
            <a:ext cx="3901380" cy="1425178"/>
          </a:xfrm>
          <a:prstGeom prst="roundRect">
            <a:avLst>
              <a:gd name="adj" fmla="val 356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07950" y="2594223"/>
            <a:ext cx="3901380" cy="0"/>
          </a:xfrm>
          <a:prstGeom prst="line">
            <a:avLst/>
          </a:prstGeom>
          <a:noFill/>
          <a:ln w="47625">
            <a:solidFill>
              <a:srgbClr val="2D2D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8450" y="2744986"/>
            <a:ext cx="35907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价格响应话术 (示例)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8450" y="3056037"/>
            <a:ext cx="3520380" cy="812602"/>
          </a:xfrm>
          <a:prstGeom prst="rect">
            <a:avLst/>
          </a:prstGeom>
          <a:solidFill>
            <a:srgbClr val="F9F9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717500" y="3056037"/>
            <a:ext cx="0" cy="812602"/>
          </a:xfrm>
          <a:prstGeom prst="line">
            <a:avLst/>
          </a:prstGeom>
          <a:noFill/>
          <a:ln w="38100">
            <a:solidFill>
              <a:srgbClr val="AAB7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8051" y="3157538"/>
            <a:ext cx="334486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"Hey! Thanks for asking. For [quantity] pcs, the current FOB reference price is around 2.5-2.8 USD... Could you share your WhatsApp or Email? I will send you the full quote sheet directly in 2 minutes."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34669" y="977801"/>
            <a:ext cx="3901380" cy="2318742"/>
          </a:xfrm>
          <a:prstGeom prst="roundRect">
            <a:avLst>
              <a:gd name="adj" fmla="val 219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4734669" y="1001613"/>
            <a:ext cx="3901380" cy="0"/>
          </a:xfrm>
          <a:prstGeom prst="line">
            <a:avLst/>
          </a:prstGeom>
          <a:noFill/>
          <a:ln w="47625">
            <a:solidFill>
              <a:srgbClr val="2D2D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25169" y="1152376"/>
            <a:ext cx="359078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多场景话术覆盖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25169" y="1463427"/>
            <a:ext cx="3520380" cy="170616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美国市场专属: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"We ship to the US every week. WhatsApp works great in the US..."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只有WeChat客户: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灵活引导添加 WeChat ID 获取最优价格。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隐私敏感型客户: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强调 "Your privacy matters... no spam", 仅需邮箱即可。</a:t>
            </a:r>
            <a:endParaRPr lang="en-US" sz="1200" dirty="0"/>
          </a:p>
          <a:p>
            <a:pPr algn="l" marL="95250" indent="-95250">
              <a:lnSpc>
                <a:spcPts val="1680"/>
              </a:lnSpc>
              <a:buSzPct val="100000"/>
              <a:buChar char="•"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急单/大单客户:</a:t>
            </a:r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针对 1000+ pcs 强调真正的出厂价，1分钟出报价单，加速转化。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2D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950" y="777776"/>
            <a:ext cx="8128099" cy="0"/>
          </a:xfrm>
          <a:prstGeom prst="line">
            <a:avLst/>
          </a:prstGeom>
          <a:noFill/>
          <a:ln w="19050">
            <a:solidFill>
              <a:srgbClr val="F96D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7950" y="304800"/>
            <a:ext cx="829066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下周计划：阿里国际站矩阵优化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07950" y="914251"/>
            <a:ext cx="3901380" cy="1637854"/>
          </a:xfrm>
          <a:prstGeom prst="roundRect">
            <a:avLst>
              <a:gd name="adj" fmla="val 4652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31763" y="914251"/>
            <a:ext cx="0" cy="1637854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2526" y="1041202"/>
            <a:ext cx="36718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核心品类词拓词与布局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2526" y="1352252"/>
            <a:ext cx="367185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重点覆盖高优精准词，提升自然搜索排名：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950" y="2679055"/>
            <a:ext cx="3901380" cy="1159222"/>
          </a:xfrm>
          <a:prstGeom prst="roundRect">
            <a:avLst>
              <a:gd name="adj" fmla="val 6573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531763" y="2679055"/>
            <a:ext cx="0" cy="1159222"/>
          </a:xfrm>
          <a:prstGeom prst="line">
            <a:avLst/>
          </a:prstGeom>
          <a:noFill/>
          <a:ln w="47625">
            <a:solidFill>
              <a:srgbClr val="F9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2526" y="2806005"/>
            <a:ext cx="36718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A+ 详情页落地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2526" y="3117056"/>
            <a:ext cx="3599855" cy="5942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基于最新 AI 收录规则，提升详情页实文本 (Live Text) 比例。</a:t>
            </a:r>
            <a:endParaRPr lang="en-US" sz="1200" dirty="0"/>
          </a:p>
          <a:p>
            <a:pPr algn="l" marL="95250" indent="-95250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强化工程解决方案视觉及买家信任标识。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34669" y="914251"/>
            <a:ext cx="3901380" cy="1159222"/>
          </a:xfrm>
          <a:prstGeom prst="roundRect">
            <a:avLst>
              <a:gd name="adj" fmla="val 6573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758482" y="914251"/>
            <a:ext cx="0" cy="1159222"/>
          </a:xfrm>
          <a:prstGeom prst="line">
            <a:avLst/>
          </a:prstGeom>
          <a:noFill/>
          <a:ln w="47625">
            <a:solidFill>
              <a:srgbClr val="AAB7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09245" y="1041202"/>
            <a:ext cx="36718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影刀 RPA (ShadowBot) 自动化发品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09245" y="1352252"/>
            <a:ext cx="3599855" cy="5942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应用前期研发的“阿里批量发品模板_竖版”。</a:t>
            </a:r>
            <a:endParaRPr lang="en-US" sz="1200" dirty="0"/>
          </a:p>
          <a:p>
            <a:pPr algn="l" marL="95250" indent="-95250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将提取的核心关键词自动化生成标题与产品属性，实现规模化覆盖。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34669" y="2200424"/>
            <a:ext cx="3901380" cy="1159222"/>
          </a:xfrm>
          <a:prstGeom prst="roundRect">
            <a:avLst>
              <a:gd name="adj" fmla="val 6573"/>
            </a:avLst>
          </a:prstGeom>
          <a:solidFill>
            <a:srgbClr val="3A3A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758482" y="2200424"/>
            <a:ext cx="0" cy="1159222"/>
          </a:xfrm>
          <a:prstGeom prst="line">
            <a:avLst/>
          </a:prstGeom>
          <a:noFill/>
          <a:ln w="47625">
            <a:solidFill>
              <a:srgbClr val="AAB7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09245" y="2327374"/>
            <a:ext cx="367185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站内引流与转化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09245" y="2638425"/>
            <a:ext cx="3599855" cy="594271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分析本周高曝光低转化的症结，微调主图点击率 (CTR)。</a:t>
            </a:r>
            <a:endParaRPr lang="en-US" sz="1200" dirty="0"/>
          </a:p>
          <a:p>
            <a:pPr algn="l" marL="95250" indent="-95250">
              <a:lnSpc>
                <a:spcPts val="1560"/>
              </a:lnSpc>
              <a:buSzPct val="100000"/>
              <a:buChar char="•"/>
            </a:pPr>
            <a:r>
              <a:rPr lang="en-US" sz="1200" dirty="0">
                <a:solidFill>
                  <a:srgbClr val="AAB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结合跟进表中的高频搜索词定点推流。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</dc:title>
  <dc:subject>PptxGenJS Presentation</dc:subject>
  <dc:creator>Kunyu Wire Mesh</dc:creator>
  <cp:lastModifiedBy>Kunyu Wire Mesh</cp:lastModifiedBy>
  <cp:revision>1</cp:revision>
  <dcterms:created xsi:type="dcterms:W3CDTF">2026-05-15T08:23:47Z</dcterms:created>
  <dcterms:modified xsi:type="dcterms:W3CDTF">2026-05-15T08:23:47Z</dcterms:modified>
</cp:coreProperties>
</file>